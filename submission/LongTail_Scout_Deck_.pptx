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986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22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 deck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2057400" cy="219456"/>
          </a:xfrm>
          <a:prstGeom prst="roundRect">
            <a:avLst>
              <a:gd name="adj" fmla="val 16667"/>
            </a:avLst>
          </a:prstGeom>
          <a:solidFill>
            <a:srgbClr val="F7F1E9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51560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APOLLO CAN'T SEE THIS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06624" y="1005840"/>
            <a:ext cx="2148840" cy="219456"/>
          </a:xfrm>
          <a:prstGeom prst="roundRect">
            <a:avLst>
              <a:gd name="adj" fmla="val 16667"/>
            </a:avLst>
          </a:prstGeom>
          <a:solidFill>
            <a:srgbClr val="FBF7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1051560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82,300 IN THE INDEX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LongTail Scout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07792" y="14996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8B8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Apollo for the long tail.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2898606"/>
            <a:ext cx="4343400" cy="53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AI prospect scout for the millions of small American businesses Apollo cannot see.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3538686"/>
            <a:ext cx="4572000" cy="36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for Bright Data Web Data UNLOCKED hackathon · Track 1, GTM Intelligence · 2026-05-30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66928" y="40965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deck for partner-prize judges. 8 slides, designed for skimming.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6552" y="4636008"/>
            <a:ext cx="4526280" cy="676656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5445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https://longtailscout.com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49808" y="477316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github.com/dholzric/longtail-scout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532120" y="749808"/>
            <a:ext cx="6053328" cy="565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21" name="Image 0" descr="/mnt/data/ghostwriter_images/context/49e6d598-6796-5d8d-bc36-2f3b52b533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795528"/>
            <a:ext cx="5961888" cy="555955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05272" y="6437376"/>
            <a:ext cx="6053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homepage screenshot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buyer's problem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Apollo and ZoomInfo miss the long tail.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teams at ServiceTitan, AccuLynx, JobNimbus, Brightwheel, Jobber, Bambee, and Toast chase the same kind of account: small, local, operator-owned, web-first. Real revenue. Real budget. No LinkedIn corporate page. No Apollo record.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1792" y="2752344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97480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SDR builds about 10 qualified accounts a day by hand.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21792" y="3191256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36392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$300 per account just to find them, before outreach begins.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" y="3630168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75304"/>
            <a:ext cx="4215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Long-tail operators live on their own websites, booking pages, and local web signals — not the LinkedIn employee graph.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353312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78231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64C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10/day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" y="511149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 accounts built by hand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167128" y="4709160"/>
            <a:ext cx="1353312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478231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64C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40280" y="511149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find one account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694176" y="4709160"/>
            <a:ext cx="1353312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478231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17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67328" y="511149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from Apollo here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486400" y="1097280"/>
            <a:ext cx="6144768" cy="5285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26" name="Image 0" descr="/mnt/data/ghostwriter_images/context/093f2ed2-200d-500d-8cdb-9fdcfacd0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143000"/>
            <a:ext cx="6053328" cy="519379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559552" y="6419088"/>
            <a:ext cx="6144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“Apollo gap” comparison from the product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a niche × city query. Get a ranked, cited, evidence-backed list of operators in ~40 seconds.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389888"/>
            <a:ext cx="4114800" cy="5074920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4592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QUERY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1874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roofing contractors in Houston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2523744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468880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ranked operators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22960" y="2916936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862072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name + homepage URL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22960" y="3310128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255264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Hiring signals scraped from the careers page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22960" y="3703320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648456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activity headlines from press / blog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22960" y="4096512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041648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Public-footprint size estimate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822960" y="4489704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434840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One-sentence sales angle generated from scraped facts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822960" y="4882896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828032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claim citation-linked to the source URL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804672" y="54406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Per-row drill-down shows underlying Bright Data fetches inline. The on-page map plots operators against a heat layer of every other business in the demand index for that niche.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10912" y="1389888"/>
            <a:ext cx="65653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28" name="Image 0" descr="/mnt/data/ghostwriter_images/context/0469d919-d911-5401-8137-8d779423b3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435608"/>
            <a:ext cx="6473952" cy="23317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084064" y="3849624"/>
            <a:ext cx="6565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query entry screen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5010912" y="4069080"/>
            <a:ext cx="656539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31" name="Image 1" descr="/mnt/data/ghostwriter_images/context/2542232b-51a0-55fd-8d01-9d080bdb2e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4114800"/>
            <a:ext cx="6473952" cy="19933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84064" y="6190488"/>
            <a:ext cx="6565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specimen list with citations and export options</a:t>
            </a:r>
            <a:endParaRPr lang="en-US" sz="760" dirty="0"/>
          </a:p>
        </p:txBody>
      </p:sp>
      <p:sp>
        <p:nvSpPr>
          <p:cNvPr id="200" name="Cost Callout"/>
          <p:cNvSpPr/>
          <p:nvPr/>
        </p:nvSpPr>
        <p:spPr>
          <a:xfrm>
            <a:off x="950976" y="5085000"/>
            <a:ext cx="4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B64C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~$0.20 a scout — about 1,500× cheaper than the ~$300 an SDR spends by hand.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 data 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Bright Data powers 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Three-phase hybrid agent pipeline. Bright Data is the spine.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4572000" cy="107899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9105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84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DISCOVERY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" y="17739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fires 4 parallel SERP queries: direct, hiring, news, suppliers.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68096" y="21031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Brave SERP API → DDG → Bright Data Scraping Browser cascade. BD handles long-tail queries Brave misses.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4572000" cy="1078992"/>
          </a:xfrm>
          <a:prstGeom prst="rect">
            <a:avLst/>
          </a:prstGeom>
          <a:solidFill>
            <a:srgbClr val="F6EEE7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9260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ENRICHMENT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" y="31089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candidate: render homepage, careers, and news.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68096" y="34381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Data Scraping Browser handles JS-heavy ATS pages like Greenhouse, Lever, and Workday.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4572000" cy="107899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2611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SYNTHESIS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8096" y="4443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DeepSeek ranks, scores ICP fit, and writes citation-grounded sales angles.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68096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BD-sourced evidence becomes live citations and row-level drill-down traces.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440680" y="1298448"/>
            <a:ext cx="6163056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22" name="Image 0" descr="/mnt/data/ghostwriter_images/context/42ee4b19-dc0d-5f00-bc67-cd76df2da0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44168"/>
            <a:ext cx="6071616" cy="5349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513832" y="6775704"/>
            <a:ext cx="6163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trace: Discovery → Enrichment → Synthesis, streamed from the worker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566928" y="5559552"/>
            <a:ext cx="4572000" cy="768096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570585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SERVICE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68096" y="59161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Playwright bridge on the home server connects to Bright Data's WSS Browser API and exposes /render + /serp + /screenshot as HTTP for the Worker. One BD zone (lts_browser) handles render, SERP, and screenshots with mutex serialization.</a:t>
            </a:r>
            <a:endParaRPr lang="en-US" sz="8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niche recon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killer differentiator: Niche Recon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Apollo physically cannot replicate.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335024"/>
            <a:ext cx="2011680" cy="219456"/>
          </a:xfrm>
          <a:prstGeom prst="roundRect">
            <a:avLst>
              <a:gd name="adj" fmla="val 16667"/>
            </a:avLst>
          </a:prstGeom>
          <a:solidFill>
            <a:srgbClr val="F7F1E9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074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APOLLO CAN'T SEE THIS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 product description. Get the top 5 long-tail verticals to hunt in.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386584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331720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product description to candidate verticals via LLM.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2825496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770632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Cross-reference each vertical against the private 7M-business demand index.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8368" y="3264408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209544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by Apollo-thinness: share of businesses with no own-domain website.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648456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platforms, social profiles, and Google pages make operators invisible to Apollo's domain-match enrichment.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0" y="1325880"/>
            <a:ext cx="6080760" cy="4526280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1572768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OUTPUT  ·  PRODUCT = “home services CRM for trades”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742432" y="20116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NICHE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18120" y="201168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61120" y="20116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APOLLO-THIN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50992" y="2267712"/>
            <a:ext cx="5623560" cy="475488"/>
          </a:xfrm>
          <a:prstGeom prst="rect">
            <a:avLst/>
          </a:prstGeom>
          <a:solidFill>
            <a:srgbClr val="F8EFE8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4048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18120" y="240487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17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16,666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0" y="240487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(every one uses ServiceTitan booking)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650992" y="2926080"/>
            <a:ext cx="5623560" cy="47548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06324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hvac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18120" y="3063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17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42,873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0" y="306324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650992" y="3584448"/>
            <a:ext cx="5623560" cy="47548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72160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service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18120" y="37216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17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10,752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961120" y="3721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650992" y="4242816"/>
            <a:ext cx="5623560" cy="47548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437997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plumbing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818120" y="4379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17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46,264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61120" y="437997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669280" y="5120640"/>
            <a:ext cx="5577840" cy="530352"/>
          </a:xfrm>
          <a:prstGeom prst="rect">
            <a:avLst/>
          </a:prstGeom>
          <a:solidFill>
            <a:srgbClr val="F7F1E9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528523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moat. Apollo does not have the demand index. Without the index, this feature does not exist.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566928" y="5074920"/>
            <a:ext cx="4526280" cy="7132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524865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 THAT HIDE OPERATORS FROM APOLLO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749808" y="546811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Booksy · Boulevard · ServiceTitan · Vagaro · Facebook · Instagram · Yelp · Google Business Profile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Cloudflare-native, data-powered, and built for live scouting.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481328"/>
            <a:ext cx="1234440" cy="548640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481328"/>
            <a:ext cx="1645920" cy="548640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71600"/>
            <a:ext cx="1828800" cy="768096"/>
          </a:xfrm>
          <a:prstGeom prst="rect">
            <a:avLst/>
          </a:prstGeom>
          <a:solidFill>
            <a:srgbClr val="F8EFE8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7335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40280" y="1673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Preact SPA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70832" y="15727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Worker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(TypeScript)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920240" y="1755648"/>
            <a:ext cx="320040" cy="0"/>
          </a:xfrm>
          <a:prstGeom prst="line">
            <a:avLst/>
          </a:prstGeom>
          <a:noFill/>
          <a:ln w="17780">
            <a:solidFill>
              <a:srgbClr val="B64C3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86200" y="1755648"/>
            <a:ext cx="411480" cy="0"/>
          </a:xfrm>
          <a:prstGeom prst="line">
            <a:avLst/>
          </a:prstGeom>
          <a:noFill/>
          <a:ln w="17780">
            <a:solidFill>
              <a:srgbClr val="B64C3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01968" y="251460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57860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Brave SERP 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98280" y="257860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01968" y="288036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94436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DuckDuckGo HTML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98280" y="294436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01968" y="3246120"/>
            <a:ext cx="4754880" cy="256032"/>
          </a:xfrm>
          <a:prstGeom prst="rect">
            <a:avLst/>
          </a:prstGeom>
          <a:solidFill>
            <a:srgbClr val="F8EFE8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331012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Data Scraping Browser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98280" y="331012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 render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01968" y="3611880"/>
            <a:ext cx="4754880" cy="256032"/>
          </a:xfrm>
          <a:prstGeom prst="rect">
            <a:avLst/>
          </a:prstGeom>
          <a:solidFill>
            <a:srgbClr val="F8EFE8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67588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Data Browser API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098280" y="367588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01968" y="397764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404164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DeepSeek / OpenRouter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098280" y="404164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primary / fallback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01968" y="434340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440740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KV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98280" y="440740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24h SERP / 7d detail cache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01968" y="470916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477316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Cron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98280" y="477316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watchlist refresh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01968" y="507492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513892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Resend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98280" y="513892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digests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601968" y="5440680"/>
            <a:ext cx="4754880" cy="25603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550468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7M-business demand index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98280" y="550468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CF endpoint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1755648"/>
            <a:ext cx="384048" cy="877824"/>
          </a:xfrm>
          <a:prstGeom prst="line">
            <a:avLst/>
          </a:prstGeom>
          <a:noFill/>
          <a:ln w="13970">
            <a:solidFill>
              <a:srgbClr val="D9D1C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2633472"/>
            <a:ext cx="475488" cy="0"/>
          </a:xfrm>
          <a:prstGeom prst="line">
            <a:avLst/>
          </a:prstGeom>
          <a:noFill/>
          <a:ln w="13970">
            <a:solidFill>
              <a:srgbClr val="D9D1C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5800" y="2514600"/>
            <a:ext cx="5440680" cy="327355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27432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 / STACK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868680" y="3118104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6696" y="306324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Workers (paid plan), custom domain via auto-cert, SSE streaming for the live agent trace.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868680" y="3630168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" y="357530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password gates writes; read paths still require Bearer auth for the demand index.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868680" y="4142232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6696" y="408736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Preact + Tailwind v4 + Vite. Deploy: Wrangler 3.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868680" y="4654296"/>
            <a:ext cx="54864" cy="54864"/>
          </a:xfrm>
          <a:prstGeom prst="ellipse">
            <a:avLst/>
          </a:prstGeom>
          <a:solidFill>
            <a:srgbClr val="B64C32"/>
          </a:solidFill>
          <a:ln w="12700">
            <a:solidFill>
              <a:srgbClr val="B64C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6696" y="459943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Bridge: playwright-core + cheerio. Tests: Vitest (118 tests).</a:t>
            </a:r>
            <a:endParaRPr lang="en-US" sz="1060" dirty="0"/>
          </a:p>
        </p:txBody>
      </p:sp>
      <p:sp>
        <p:nvSpPr>
          <p:cNvPr id="56" name="Shape 54"/>
          <p:cNvSpPr/>
          <p:nvPr/>
        </p:nvSpPr>
        <p:spPr>
          <a:xfrm>
            <a:off x="868680" y="5193792"/>
            <a:ext cx="960120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1832" y="5266944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17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41832" y="559612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1965960" y="5193792"/>
            <a:ext cx="960120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39112" y="5266944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2039112" y="559612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SERP cache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3063240" y="5193792"/>
            <a:ext cx="960120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36392" y="5266944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7d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3136392" y="559612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cache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4160520" y="5193792"/>
            <a:ext cx="960120" cy="658368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33672" y="5266944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64C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SSE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33672" y="559612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trace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/ watchlists / 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demo: MCP, watchlists, security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find → prove → reach → act loop — production surface that keeps compounding.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325880"/>
            <a:ext cx="4572000" cy="363931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727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 AT /api/mcp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tools any MCP-aware client can call: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68096" y="2176272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24028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scout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779776" y="2176272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224028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niche_recon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68096" y="2560320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62432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find_businesses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779776" y="2560320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262432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demand_count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68096" y="2944368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008376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operator_screenshot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779776" y="2944368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3008376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draft_email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68096" y="3328416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39242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linkedin_check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79776" y="3328416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39242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find_contacts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68096" y="3712464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77647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decision_maker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779776" y="3712464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377647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64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signal_radar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68096" y="4096512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16052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rank_triggers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779776" y="4096512"/>
            <a:ext cx="1783080" cy="256032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52928" y="416052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account_brief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66928" y="5166360"/>
            <a:ext cx="4572000" cy="1115568"/>
          </a:xfrm>
          <a:prstGeom prst="rect">
            <a:avLst/>
          </a:prstGeom>
          <a:solidFill>
            <a:srgbClr val="F7F1E9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536752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WATCHLISTS + ALERTS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768096" y="557784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 query. A daily cron refreshes the demand-index count. Resend email digests + Slack / Discord webhooks fire when delta &gt; 0. Every digest has an HMAC-signed unsubscribe link for CAN-SPAM compliance.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1325880"/>
            <a:ext cx="2944368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40" name="Image 0" descr="/mnt/data/ghostwriter_images/context/13b78ccb-061c-5038-9e89-b09596769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2801620" cy="48463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513832" y="6300216"/>
            <a:ext cx="2944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field card — not on LinkedIn (proven), contacts, decision-maker, outreach</a:t>
            </a:r>
            <a:endParaRPr lang="en-US" sz="760" dirty="0"/>
          </a:p>
        </p:txBody>
      </p:sp>
      <p:sp>
        <p:nvSpPr>
          <p:cNvPr id="42" name="Shape 39"/>
          <p:cNvSpPr/>
          <p:nvPr/>
        </p:nvSpPr>
        <p:spPr>
          <a:xfrm>
            <a:off x="8595360" y="3456432"/>
            <a:ext cx="2971800" cy="2807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43" name="Image 1" descr="/mnt/data/ghostwriter_images/context/86ddb122-fdbd-56a8-9383-702e105bd0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502152"/>
            <a:ext cx="2698642" cy="2715768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668512" y="6300216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Apollo-blind proof: not on LinkedIn — owner + direct contact via Bright Data</a:t>
            </a:r>
            <a:endParaRPr lang="en-US" sz="760" dirty="0"/>
          </a:p>
        </p:txBody>
      </p:sp>
      <p:sp>
        <p:nvSpPr>
          <p:cNvPr id="45" name="Shape 41"/>
          <p:cNvSpPr/>
          <p:nvPr/>
        </p:nvSpPr>
        <p:spPr>
          <a:xfrm>
            <a:off x="8595360" y="1325880"/>
            <a:ext cx="2971800" cy="1883664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796528" y="15270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8796528" y="17830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118 unit tests covering SSRF guards on both the worker and the bridge, HMAC unsubscribe tokens, watchlist PII redaction, platform-host filters, and every new classifier.</a:t>
            </a:r>
            <a:endParaRPr lang="en-US" sz="880" dirty="0"/>
          </a:p>
        </p:txBody>
      </p:sp>
      <p:sp>
        <p:nvSpPr>
          <p:cNvPr id="48" name="Text 44"/>
          <p:cNvSpPr/>
          <p:nvPr/>
        </p:nvSpPr>
        <p:spPr>
          <a:xfrm>
            <a:off x="8796528" y="23774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external code reviews (Codex). 10/10 findings closed. Full live burn-test of all endpoints + MCP tools.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 w="12700">
            <a:solidFill>
              <a:srgbClr val="F5F0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7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   edition 2026.05 · field manual for the long 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41080" y="914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+ thanks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75720" y="91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310896"/>
            <a:ext cx="11320272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+ thanks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net-new-account engine for every vertical-SaaS GTM team.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325880"/>
            <a:ext cx="4846320" cy="4480560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7276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30 DAYS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768096" y="2423160"/>
            <a:ext cx="438912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385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connectors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194560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HubSpot, Salesforce, Apollo CSV reverse-import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68096" y="3273552"/>
            <a:ext cx="438912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788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mode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194560" y="2788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BD-bridge enrichment to recover the ~35% of candidates plain-fetch drops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68096" y="4123944"/>
            <a:ext cx="438912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6393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Vertical-tuned prompts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194560" y="36393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Roofing, HVAC, childcare, EMS — different hiring-signal weights by market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68096" y="4974336"/>
            <a:ext cx="4389120" cy="0"/>
          </a:xfrm>
          <a:prstGeom prst="line">
            <a:avLst/>
          </a:prstGeom>
          <a:noFill/>
          <a:ln w="12700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4897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Data MCP Server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2194560" y="44897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once it is GA, deprecate the Playwright bridge, call BD directly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650992" y="1325880"/>
            <a:ext cx="5916168" cy="4480560"/>
          </a:xfrm>
          <a:prstGeom prst="rect">
            <a:avLst/>
          </a:prstGeom>
          <a:solidFill>
            <a:srgbClr val="F1EBE1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5727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8B8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 TO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833872" y="1901952"/>
            <a:ext cx="5458968" cy="43891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02996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 Data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7269480" y="202082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Scraping Browser product and the hackathon promo credit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833872" y="2596896"/>
            <a:ext cx="5458968" cy="43891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72491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7269480" y="271576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Workers, KV, Tunnels, and custom-domain auto-cert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833872" y="3291840"/>
            <a:ext cx="5458968" cy="43891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41985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DeepSeek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7269480" y="341071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cheap, fast tool-use LLM performance — primary all the way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833872" y="3986784"/>
            <a:ext cx="5458968" cy="43891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11480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lablab.ai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269480" y="410565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71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running the hackathon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833872" y="4791456"/>
            <a:ext cx="26700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38" name="Image 0" descr="/mnt/data/ghostwriter_images/context/49e6d598-6796-5d8d-bc36-2f3b52b533a6.png"/>
          <p:cNvPicPr>
            <a:picLocks noChangeAspect="1"/>
          </p:cNvPicPr>
          <p:nvPr/>
        </p:nvPicPr>
        <p:blipFill>
          <a:blip r:embed="rId3"/>
          <a:srcRect l="0" t="34193" r="0" b="34193"/>
          <a:stretch>
            <a:fillRect/>
          </a:stretch>
        </p:blipFill>
        <p:spPr>
          <a:xfrm>
            <a:off x="5879592" y="4837176"/>
            <a:ext cx="2578608" cy="694944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8622792" y="4791456"/>
            <a:ext cx="26700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C3"/>
            </a:solidFill>
            <a:prstDash val="solid"/>
          </a:ln>
        </p:spPr>
      </p:sp>
      <p:pic>
        <p:nvPicPr>
          <p:cNvPr id="40" name="Image 1" descr="/mnt/data/ghostwriter_images/context/0469d919-d911-5401-8137-8d779423b3bb.png"/>
          <p:cNvPicPr>
            <a:picLocks noChangeAspect="1"/>
          </p:cNvPicPr>
          <p:nvPr/>
        </p:nvPicPr>
        <p:blipFill>
          <a:blip r:embed="rId4"/>
          <a:srcRect l="0" t="26748" r="0" b="26748"/>
          <a:stretch>
            <a:fillRect/>
          </a:stretch>
        </p:blipFill>
        <p:spPr>
          <a:xfrm>
            <a:off x="8668512" y="4837176"/>
            <a:ext cx="2578608" cy="694944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566928" y="6035040"/>
            <a:ext cx="11000232" cy="438912"/>
          </a:xfrm>
          <a:prstGeom prst="rect">
            <a:avLst/>
          </a:prstGeom>
          <a:solidFill>
            <a:srgbClr val="FBF7F0"/>
          </a:solidFill>
          <a:ln w="12700">
            <a:solidFill>
              <a:srgbClr val="D9D1C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04672" y="6190488"/>
            <a:ext cx="3200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demo: https://longtailscout.com</a:t>
            </a:r>
            <a:endParaRPr lang="en-US" sz="940" dirty="0"/>
          </a:p>
        </p:txBody>
      </p:sp>
      <p:sp>
        <p:nvSpPr>
          <p:cNvPr id="43" name="Text 39"/>
          <p:cNvSpPr/>
          <p:nvPr/>
        </p:nvSpPr>
        <p:spPr>
          <a:xfrm>
            <a:off x="4251960" y="619048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E6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github.com/dholzric/longtail-scout</a:t>
            </a:r>
            <a:endParaRPr lang="en-US" sz="920" dirty="0"/>
          </a:p>
        </p:txBody>
      </p:sp>
      <p:sp>
        <p:nvSpPr>
          <p:cNvPr id="44" name="Text 40"/>
          <p:cNvSpPr/>
          <p:nvPr/>
        </p:nvSpPr>
        <p:spPr>
          <a:xfrm>
            <a:off x="9052560" y="619048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40" b="1" i="1" dirty="0">
                <a:solidFill>
                  <a:srgbClr val="B64C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Apollo for the long tail.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1253</Words>
  <Application>Microsoft Office PowerPoint</Application>
  <PresentationFormat>Widescreen</PresentationFormat>
  <Paragraphs>194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LongTail Scout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LongTail Scout - Apollo for the long tail</dc:title>
  <dc:subject>Bright Data Web Data UNLOCKED hackathon submission deck</dc:subject>
  <dc:creator>OpenAI</dc:creator>
  <cp:lastModifiedBy>Dan holzrichter</cp:lastModifiedBy>
  <cp:revision>2</cp:revision>
  <dcterms:created xsi:type="dcterms:W3CDTF">2026-05-30T00:28:18Z</dcterms:created>
  <dcterms:modified xsi:type="dcterms:W3CDTF">2026-05-30T00:40:21Z</dcterms:modified>
</cp:coreProperties>
</file>